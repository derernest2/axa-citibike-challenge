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8" r:id="rId5"/>
    <p:sldId id="269" r:id="rId6"/>
    <p:sldId id="270" r:id="rId7"/>
    <p:sldId id="267" r:id="rId8"/>
    <p:sldId id="268" r:id="rId9"/>
    <p:sldId id="271" r:id="rId10"/>
    <p:sldId id="274" r:id="rId11"/>
    <p:sldId id="272" r:id="rId12"/>
    <p:sldId id="273" r:id="rId13"/>
  </p:sldIdLst>
  <p:sldSz cx="12192000" cy="6858000"/>
  <p:notesSz cx="6858000" cy="9144000"/>
  <p:defaultTextStyle>
    <a:defPPr rtl="0"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DCF222C-890B-4A28-8CC5-860352B9D2D8}" type="datetime1">
              <a:rPr lang="de-DE" smtClean="0"/>
              <a:t>17.12.2025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0FB2356-45F8-4CBB-BBF8-E3F4E0C0F34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68277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59C086-0186-48AE-8EDC-9B8212C2B37F}" type="datetime1">
              <a:rPr lang="de-DE" smtClean="0"/>
              <a:pPr/>
              <a:t>17.12.2025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900A82-9926-4DBA-8BA5-A22EEB8ACF8E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84234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9C900A82-9926-4DBA-8BA5-A22EEB8ACF8E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1577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Gerader Verbinde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hteck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hteck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Gleichschenkliges Dreieck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hteck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hteck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hteck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Gleichschenkliges Dreieck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Gleichschenkliges Dreieck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rtlCol="0"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rtlCol="0"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4F1A93-6CBE-40A4-B4CA-A91B3314C500}" type="datetime1">
              <a:rPr lang="de-DE" noProof="0" smtClean="0"/>
              <a:t>17.12.2025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36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C6354A6-CC94-42FF-8716-AC4F163853CA}" type="datetime1">
              <a:rPr lang="de-DE" noProof="0" smtClean="0"/>
              <a:t>17.12.2025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rtlCol="0"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136D4C8-920F-4FF7-A621-508D8A357006}" type="datetime1">
              <a:rPr lang="de-DE" noProof="0" smtClean="0"/>
              <a:t>17.12.2025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B00E34-C0E2-4EA6-A381-2D550E7E04A0}" type="datetime1">
              <a:rPr lang="de-DE" noProof="0" smtClean="0"/>
              <a:t>17.12.2025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FF9F0C5-380F-41C2-899A-BAC0F0927E16}" type="slidenum">
              <a:rPr lang="de-DE" noProof="0" smtClean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 rtlCol="0">
            <a:normAutofit/>
          </a:bodyPr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 rtlCol="0">
            <a:normAutofit/>
          </a:bodyPr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6838FE-D334-461C-B42D-AAF628E4C311}" type="datetime1">
              <a:rPr lang="de-DE" noProof="0" smtClean="0"/>
              <a:t>17.12.2025</a:t>
            </a:fld>
            <a:endParaRPr lang="de-DE" noProof="0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1C3057-93F8-4FA2-8DF8-2DBFACB9FD74}" type="datetime1">
              <a:rPr lang="de-DE" noProof="0" smtClean="0"/>
              <a:t>17.12.2025</a:t>
            </a:fld>
            <a:endParaRPr lang="de-DE" noProof="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FCB5FB2-86D1-44D5-B9CA-C25EE954778E}" type="datetime1">
              <a:rPr lang="de-DE" noProof="0" smtClean="0"/>
              <a:t>17.12.2025</a:t>
            </a:fld>
            <a:endParaRPr lang="de-DE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rtlCol="0" anchor="b">
            <a:normAutofit/>
          </a:bodyPr>
          <a:lstStyle>
            <a:lvl1pPr>
              <a:defRPr sz="20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 rtlCol="0">
            <a:normAutofit/>
          </a:bodyPr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07AEEC6-68BF-4121-8AC5-6849170F2B78}" type="datetime1">
              <a:rPr lang="de-DE" noProof="0" smtClean="0"/>
              <a:t>17.12.2025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19954A3-9DFD-4C44-94BA-B95130A3BA1C}" type="slidenum">
              <a:rPr lang="de-DE" noProof="0" smtClean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C3D5143-E439-4EAE-A618-60AA9106E01B}" type="datetime1">
              <a:rPr lang="de-DE" noProof="0" smtClean="0"/>
              <a:t>17.12.2025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rtlCol="0" anchor="ctr">
            <a:normAutofit/>
          </a:bodyPr>
          <a:lstStyle>
            <a:lvl1pPr algn="l">
              <a:defRPr sz="4400" b="0" cap="none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F6EFCB0-0098-4B2B-AF83-950DD600075C}" type="datetime1">
              <a:rPr lang="de-DE" noProof="0" smtClean="0"/>
              <a:t>17.12.2025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rtlCol="0" anchor="ctr">
            <a:normAutofit/>
          </a:bodyPr>
          <a:lstStyle>
            <a:lvl1pPr algn="l">
              <a:defRPr sz="4400" b="0" cap="none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23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864F35A-31C4-4781-98B0-DB2CEA50594D}" type="datetime1">
              <a:rPr lang="de-DE" noProof="0" smtClean="0"/>
              <a:t>17.12.2025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20" name="Textfeld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rtl="0"/>
            <a:r>
              <a:rPr lang="de-DE" sz="8000" noProof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"</a:t>
            </a:r>
          </a:p>
        </p:txBody>
      </p:sp>
      <p:sp>
        <p:nvSpPr>
          <p:cNvPr id="22" name="Textfeld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rtl="0"/>
            <a:r>
              <a:rPr lang="de-DE" sz="8000" noProof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"</a:t>
            </a:r>
            <a:endParaRPr lang="de-DE" noProof="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rtlCol="0" anchor="b">
            <a:normAutofit/>
          </a:bodyPr>
          <a:lstStyle>
            <a:lvl1pPr algn="l">
              <a:defRPr sz="4400" b="0" cap="none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7B7B4B-ACBE-448E-9AAA-0307EEE7B05C}" type="datetime1">
              <a:rPr lang="de-DE" noProof="0" smtClean="0"/>
              <a:t>17.12.2025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Visiten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rtlCol="0" anchor="ctr">
            <a:normAutofit/>
          </a:bodyPr>
          <a:lstStyle>
            <a:lvl1pPr algn="l">
              <a:defRPr sz="4400" b="0" cap="none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23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rtlCol="0"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BB69D86-997A-4BF7-9D76-8E3D6B382B02}" type="datetime1">
              <a:rPr lang="de-DE" noProof="0" smtClean="0"/>
              <a:t>17.12.2025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  <p:sp>
        <p:nvSpPr>
          <p:cNvPr id="24" name="Textfeld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rtl="0"/>
            <a:r>
              <a:rPr lang="de-DE" sz="8000" noProof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"</a:t>
            </a:r>
          </a:p>
        </p:txBody>
      </p:sp>
      <p:sp>
        <p:nvSpPr>
          <p:cNvPr id="25" name="Textfeld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rtl="0"/>
            <a:r>
              <a:rPr lang="de-DE" sz="8000" noProof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"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rtlCol="0" anchor="ctr">
            <a:normAutofit/>
          </a:bodyPr>
          <a:lstStyle>
            <a:lvl1pPr algn="l">
              <a:defRPr sz="4400" b="0" cap="none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23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rtlCol="0"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3C65238-94D3-4E2A-8871-35F69C9267E1}" type="datetime1">
              <a:rPr lang="de-DE" noProof="0" smtClean="0"/>
              <a:t>17.12.2025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28FE7D-6DE5-455B-B8BC-19B99EA42F19}" type="datetime1">
              <a:rPr lang="de-DE" noProof="0" smtClean="0"/>
              <a:t>17.12.2025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9333C77-0158-454C-844F-B7AB9BD7DAD4}" type="slidenum">
              <a:rPr lang="de-DE" noProof="0" smtClean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rtlCol="0" anchor="ctr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B6682B-DF45-48CF-8E85-CFEB67765AF0}" type="datetime1">
              <a:rPr lang="de-DE" noProof="0" smtClean="0"/>
              <a:t>17.12.2025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Gerader Verbinde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hteck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hteck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Gleichschenkliges Dreieck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hteck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hteck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hteck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Gleichschenkliges Dreieck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Gleichschenkliges Dreieck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4BA9A0BF-2586-4C23-83EB-5A6A6CC533F3}" type="datetime1">
              <a:rPr lang="de-DE" noProof="0" smtClean="0"/>
              <a:t>17.12.2025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rtl="0"/>
            <a:fld id="{D57F1E4F-1CFF-5643-939E-217C01CDF565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hteck 30">
            <a:extLst>
              <a:ext uri="{FF2B5EF4-FFF2-40B4-BE49-F238E27FC236}">
                <a16:creationId xmlns:a16="http://schemas.microsoft.com/office/drawing/2014/main" id="{9179DE42-5613-4B35-A1E6-6CCBAA13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EB898B32-3891-4C3A-8F58-C5969D2E9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48300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4AE4806D-B8F9-4679-A68A-9BD21C01A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7175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hteck 23">
            <a:extLst>
              <a:ext uri="{FF2B5EF4-FFF2-40B4-BE49-F238E27FC236}">
                <a16:creationId xmlns:a16="http://schemas.microsoft.com/office/drawing/2014/main" id="{52FB45E9-914E-4471-AC87-E475CD5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8764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9" name="Rechteck 25">
            <a:extLst>
              <a:ext uri="{FF2B5EF4-FFF2-40B4-BE49-F238E27FC236}">
                <a16:creationId xmlns:a16="http://schemas.microsoft.com/office/drawing/2014/main" id="{C310626D-5743-49D4-8F7D-88C4F8F05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0730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1" name="Gleichschenkliges Dreieck 40">
            <a:extLst>
              <a:ext uri="{FF2B5EF4-FFF2-40B4-BE49-F238E27FC236}">
                <a16:creationId xmlns:a16="http://schemas.microsoft.com/office/drawing/2014/main" id="{3C195FC1-B568-4C72-9902-34CB35D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9621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3" name="Rechteck 27">
            <a:extLst>
              <a:ext uri="{FF2B5EF4-FFF2-40B4-BE49-F238E27FC236}">
                <a16:creationId xmlns:a16="http://schemas.microsoft.com/office/drawing/2014/main" id="{EF2BDF77-362C-43F0-8CBB-A969EC2AE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1788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5" name="Gleichschenkliges Dreieck 44">
            <a:extLst>
              <a:ext uri="{FF2B5EF4-FFF2-40B4-BE49-F238E27FC236}">
                <a16:creationId xmlns:a16="http://schemas.microsoft.com/office/drawing/2014/main" id="{4BE96B01-3929-432D-B8C2-ADBCB74C2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48954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7" name="Freihandform: Form 46">
            <a:extLst>
              <a:ext uri="{FF2B5EF4-FFF2-40B4-BE49-F238E27FC236}">
                <a16:creationId xmlns:a16="http://schemas.microsoft.com/office/drawing/2014/main" id="{2A6FCDE6-CDE2-4C51-B18E-A95CFB679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6287" y="-8467"/>
            <a:ext cx="9175713" cy="6866467"/>
          </a:xfrm>
          <a:custGeom>
            <a:avLst/>
            <a:gdLst>
              <a:gd name="connsiteX0" fmla="*/ 0 w 9175713"/>
              <a:gd name="connsiteY0" fmla="*/ 0 h 6866467"/>
              <a:gd name="connsiteX1" fmla="*/ 1249825 w 9175713"/>
              <a:gd name="connsiteY1" fmla="*/ 0 h 6866467"/>
              <a:gd name="connsiteX2" fmla="*/ 1249825 w 9175713"/>
              <a:gd name="connsiteY2" fmla="*/ 8467 h 6866467"/>
              <a:gd name="connsiteX3" fmla="*/ 9175713 w 9175713"/>
              <a:gd name="connsiteY3" fmla="*/ 8467 h 6866467"/>
              <a:gd name="connsiteX4" fmla="*/ 9175713 w 9175713"/>
              <a:gd name="connsiteY4" fmla="*/ 6866467 h 6866467"/>
              <a:gd name="connsiteX5" fmla="*/ 1249825 w 9175713"/>
              <a:gd name="connsiteY5" fmla="*/ 6866467 h 6866467"/>
              <a:gd name="connsiteX6" fmla="*/ 1109382 w 9175713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5713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9175713" y="8467"/>
                </a:lnTo>
                <a:lnTo>
                  <a:pt x="9175713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sp>
        <p:nvSpPr>
          <p:cNvPr id="49" name="Gleichschenkliges Dreieck 48">
            <a:extLst>
              <a:ext uri="{FF2B5EF4-FFF2-40B4-BE49-F238E27FC236}">
                <a16:creationId xmlns:a16="http://schemas.microsoft.com/office/drawing/2014/main" id="{9D2E8756-2465-473A-BA2A-2DB1D6224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062562" y="3271487"/>
            <a:ext cx="220660" cy="186439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2C1D04-249B-46E2-9FAF-8DF29CC44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9136" y="1253783"/>
            <a:ext cx="6960759" cy="2849671"/>
          </a:xfrm>
        </p:spPr>
        <p:txBody>
          <a:bodyPr rtlCol="0">
            <a:normAutofit/>
          </a:bodyPr>
          <a:lstStyle/>
          <a:p>
            <a:pPr algn="l"/>
            <a:r>
              <a:rPr lang="de-DE" sz="4800" b="1" dirty="0">
                <a:solidFill>
                  <a:srgbClr val="FFFFFF"/>
                </a:solidFill>
              </a:rPr>
              <a:t>Data Science Challenge</a:t>
            </a:r>
            <a:br>
              <a:rPr lang="de-DE" sz="6000" dirty="0">
                <a:solidFill>
                  <a:srgbClr val="FFFFFF"/>
                </a:solidFill>
              </a:rPr>
            </a:br>
            <a:r>
              <a:rPr lang="de-DE" sz="4000" dirty="0">
                <a:solidFill>
                  <a:srgbClr val="FFFFFF"/>
                </a:solidFill>
              </a:rPr>
              <a:t>AXA Data Innovation Lab</a:t>
            </a:r>
            <a:endParaRPr lang="de-DE" sz="6000" dirty="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28B1921-F533-4F9E-8BF6-80EC4D451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48104" y="4195000"/>
            <a:ext cx="6112077" cy="1186108"/>
          </a:xfrm>
        </p:spPr>
        <p:txBody>
          <a:bodyPr rtlCol="0">
            <a:normAutofit/>
          </a:bodyPr>
          <a:lstStyle/>
          <a:p>
            <a:pPr algn="l" rtl="0"/>
            <a:r>
              <a:rPr lang="de-DE" sz="2000" dirty="0">
                <a:solidFill>
                  <a:srgbClr val="FFFFFF">
                    <a:alpha val="70000"/>
                  </a:srgbClr>
                </a:solidFill>
              </a:rPr>
              <a:t>Thomas Dygutsch</a:t>
            </a:r>
          </a:p>
          <a:p>
            <a:pPr algn="l" rtl="0"/>
            <a:r>
              <a:rPr lang="de-DE" sz="2000" dirty="0">
                <a:solidFill>
                  <a:srgbClr val="FFFFFF">
                    <a:alpha val="70000"/>
                  </a:srgbClr>
                </a:solidFill>
              </a:rPr>
              <a:t>18. Dez. 2025</a:t>
            </a:r>
          </a:p>
        </p:txBody>
      </p:sp>
    </p:spTree>
    <p:extLst>
      <p:ext uri="{BB962C8B-B14F-4D97-AF65-F5344CB8AC3E}">
        <p14:creationId xmlns:p14="http://schemas.microsoft.com/office/powerpoint/2010/main" val="2015680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B0C20-0DF6-7165-42AB-74C4A3E3F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1CB752-CAD4-7FEA-866F-2D4B6FD5E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D87E05-763F-335B-4EE3-7C6884376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16" y="2140269"/>
            <a:ext cx="8596668" cy="3880773"/>
          </a:xfrm>
        </p:spPr>
        <p:txBody>
          <a:bodyPr>
            <a:normAutofit/>
          </a:bodyPr>
          <a:lstStyle/>
          <a:p>
            <a:r>
              <a:rPr lang="de-DE" dirty="0"/>
              <a:t>Der Fahrradverleih </a:t>
            </a:r>
            <a:r>
              <a:rPr lang="de-DE" b="1" dirty="0" err="1"/>
              <a:t>CitiBike</a:t>
            </a:r>
            <a:r>
              <a:rPr lang="de-DE" dirty="0"/>
              <a:t> vermietet in New York über 12.000 Fahrräder an 750 Verleihstationen. Somit ist </a:t>
            </a:r>
            <a:r>
              <a:rPr lang="de-DE" dirty="0" err="1"/>
              <a:t>CitiBike</a:t>
            </a:r>
            <a:r>
              <a:rPr lang="de-DE" dirty="0"/>
              <a:t> eine echte Alternative zu den herkömmlichen Transportmitteln, wie z.B. U-Bahn oder Taxi. </a:t>
            </a:r>
            <a:r>
              <a:rPr lang="de-DE" dirty="0" err="1"/>
              <a:t>CitiBike</a:t>
            </a:r>
            <a:r>
              <a:rPr lang="de-DE" dirty="0"/>
              <a:t> stellt die durch den Verleih gesammelten Daten der Öffentlichkeit zur Verfügung (s. bspw. „2023-citibike-tripdata.zip“). </a:t>
            </a:r>
          </a:p>
          <a:p>
            <a:r>
              <a:rPr lang="de-DE" dirty="0"/>
              <a:t>Deine Aufgabe als Data Scientist ist es, </a:t>
            </a:r>
            <a:r>
              <a:rPr lang="de-DE" dirty="0" err="1"/>
              <a:t>CitiBike</a:t>
            </a:r>
            <a:r>
              <a:rPr lang="de-DE" dirty="0"/>
              <a:t> dabei zu helfen diese Daten wertstiftend zu nutzen, beispielsweise indem du für </a:t>
            </a:r>
            <a:r>
              <a:rPr lang="de-DE" dirty="0" err="1"/>
              <a:t>CitiBike</a:t>
            </a:r>
            <a:r>
              <a:rPr lang="de-DE" dirty="0"/>
              <a:t> Kooperationsmöglichkeiten mit einer Versicherung (und/oder umgekehrt) skizzierst. Dazu kannst du zusätzlich die öffentlich zugängigen Daten des </a:t>
            </a:r>
            <a:r>
              <a:rPr lang="de-DE" b="1" dirty="0"/>
              <a:t>NYPD</a:t>
            </a:r>
            <a:r>
              <a:rPr lang="de-DE" dirty="0"/>
              <a:t> zu </a:t>
            </a:r>
            <a:r>
              <a:rPr lang="de-DE" b="1" dirty="0"/>
              <a:t>Verkehrsunfällen</a:t>
            </a:r>
            <a:r>
              <a:rPr lang="de-DE" dirty="0"/>
              <a:t> nutzen.</a:t>
            </a:r>
          </a:p>
        </p:txBody>
      </p:sp>
    </p:spTree>
    <p:extLst>
      <p:ext uri="{BB962C8B-B14F-4D97-AF65-F5344CB8AC3E}">
        <p14:creationId xmlns:p14="http://schemas.microsoft.com/office/powerpoint/2010/main" val="2264905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806487-C3B6-CBF5-2424-C547CE891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F89047-42EE-E36D-19D1-36CA00EE5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Datenangleichung und -bereinigung</a:t>
            </a:r>
          </a:p>
          <a:p>
            <a:pPr lvl="1"/>
            <a:r>
              <a:rPr lang="de-DE" dirty="0" err="1"/>
              <a:t>Citibike</a:t>
            </a:r>
            <a:endParaRPr lang="de-DE" dirty="0"/>
          </a:p>
          <a:p>
            <a:pPr lvl="1"/>
            <a:r>
              <a:rPr lang="de-DE" dirty="0"/>
              <a:t>NYPD</a:t>
            </a:r>
          </a:p>
          <a:p>
            <a:r>
              <a:rPr lang="de-DE" dirty="0"/>
              <a:t>Datenanalyse</a:t>
            </a:r>
          </a:p>
          <a:p>
            <a:pPr lvl="1"/>
            <a:r>
              <a:rPr lang="de-DE" dirty="0"/>
              <a:t>Geografisch – Unfallrisiko nach NYC-Stadtgebiet</a:t>
            </a:r>
          </a:p>
          <a:p>
            <a:pPr lvl="1"/>
            <a:r>
              <a:rPr lang="de-DE" dirty="0"/>
              <a:t>Zeitlich – Unfallrisiko nach Wochentag</a:t>
            </a:r>
          </a:p>
          <a:p>
            <a:r>
              <a:rPr lang="de-DE" dirty="0"/>
              <a:t>Kooperationsmöglichkeiten mit Versicherung</a:t>
            </a:r>
          </a:p>
        </p:txBody>
      </p:sp>
    </p:spTree>
    <p:extLst>
      <p:ext uri="{BB962C8B-B14F-4D97-AF65-F5344CB8AC3E}">
        <p14:creationId xmlns:p14="http://schemas.microsoft.com/office/powerpoint/2010/main" val="184495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7F3E90-C5F9-2569-BA7E-A61E93532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Datenbereinigung</a:t>
            </a:r>
            <a:br>
              <a:rPr lang="de-DE" dirty="0"/>
            </a:br>
            <a:r>
              <a:rPr lang="de-DE" dirty="0" err="1"/>
              <a:t>Citibike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EC59DB-AD6A-1443-61C9-200FB2CEC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Viele unterschiedliche Datensätze</a:t>
            </a:r>
          </a:p>
          <a:p>
            <a:pPr lvl="1"/>
            <a:r>
              <a:rPr lang="de-DE" dirty="0"/>
              <a:t>Zwei verschiedene Spaltenbenennungen (2014-2019 und 2020-heute)</a:t>
            </a:r>
          </a:p>
          <a:p>
            <a:pPr lvl="2"/>
            <a:r>
              <a:rPr lang="de-DE" dirty="0">
                <a:sym typeface="Wingdings" panose="05000000000000000000" pitchFamily="2" charset="2"/>
              </a:rPr>
              <a:t>Spezifische Spaltennamen für einen Jahresbereich rausfiltern:</a:t>
            </a:r>
          </a:p>
          <a:p>
            <a:pPr lvl="3"/>
            <a:r>
              <a:rPr lang="en-US" dirty="0">
                <a:sym typeface="Wingdings" panose="05000000000000000000" pitchFamily="2" charset="2"/>
              </a:rPr>
              <a:t>2014-2019: </a:t>
            </a:r>
            <a:r>
              <a:rPr lang="en-US" dirty="0" err="1">
                <a:sym typeface="Wingdings" panose="05000000000000000000" pitchFamily="2" charset="2"/>
              </a:rPr>
              <a:t>tripduration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bikeid</a:t>
            </a:r>
            <a:r>
              <a:rPr lang="en-US" dirty="0">
                <a:sym typeface="Wingdings" panose="05000000000000000000" pitchFamily="2" charset="2"/>
              </a:rPr>
              <a:t>, gender, birth year</a:t>
            </a:r>
          </a:p>
          <a:p>
            <a:pPr lvl="3"/>
            <a:r>
              <a:rPr lang="en-US" dirty="0">
                <a:sym typeface="Wingdings" panose="05000000000000000000" pitchFamily="2" charset="2"/>
              </a:rPr>
              <a:t>ab 2020-2025: </a:t>
            </a:r>
            <a:r>
              <a:rPr lang="en-US" dirty="0" err="1">
                <a:sym typeface="Wingdings" panose="05000000000000000000" pitchFamily="2" charset="2"/>
              </a:rPr>
              <a:t>ride_id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Usertype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Anpassung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dirty="0"/>
              <a:t>replace({'Subscriber': 'member', 'Customer': 'casual'})</a:t>
            </a:r>
            <a:endParaRPr lang="de-DE" dirty="0"/>
          </a:p>
          <a:p>
            <a:pPr lvl="1"/>
            <a:r>
              <a:rPr lang="de-DE" dirty="0"/>
              <a:t>E-Bikes 2019 eingeführt </a:t>
            </a:r>
            <a:r>
              <a:rPr lang="de-DE" dirty="0">
                <a:sym typeface="Wingdings" panose="05000000000000000000" pitchFamily="2" charset="2"/>
              </a:rPr>
              <a:t> davor nur „Classic Bikes“</a:t>
            </a:r>
          </a:p>
          <a:p>
            <a:pPr lvl="1"/>
            <a:r>
              <a:rPr lang="de-DE" dirty="0"/>
              <a:t>DTYPE für alle Spalten angeglichen 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/>
              <a:t>Station </a:t>
            </a:r>
            <a:r>
              <a:rPr lang="de-DE" dirty="0" err="1"/>
              <a:t>Ids</a:t>
            </a:r>
            <a:r>
              <a:rPr lang="de-DE" dirty="0"/>
              <a:t> als String (z.B.SYS016)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86377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0DB1CC-CA59-9B38-1AFD-35D851E89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Datenbereinigung</a:t>
            </a:r>
            <a:br>
              <a:rPr lang="de-DE" dirty="0"/>
            </a:br>
            <a:r>
              <a:rPr lang="de-DE" dirty="0"/>
              <a:t>NYPD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8220D5-0954-100E-7DC9-919FE1524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 einzelner Datensatz</a:t>
            </a:r>
          </a:p>
          <a:p>
            <a:pPr lvl="1"/>
            <a:r>
              <a:rPr lang="de-DE" dirty="0"/>
              <a:t>Zeit / Datum konvertieren</a:t>
            </a:r>
          </a:p>
          <a:p>
            <a:pPr lvl="1"/>
            <a:r>
              <a:rPr lang="de-DE" dirty="0"/>
              <a:t>Filtern des Datensatz nach Fahrradbeteiligung 'NUMBER OF CYCLIST INJURED‘, 'NUMBER OF CYCLIST KILLED‘ oder VEHICLE TYPE CODE X enthält Angaben über Fahrradbeteiligung</a:t>
            </a:r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53875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526B81-4BF3-30F1-AE48-614F03105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Datenanalyse</a:t>
            </a:r>
            <a:br>
              <a:rPr lang="de-DE" dirty="0"/>
            </a:br>
            <a:r>
              <a:rPr lang="de-DE" dirty="0"/>
              <a:t>Geografisch – Unfallrisiko nach NYC-Stadtgebiet</a:t>
            </a:r>
            <a:br>
              <a:rPr lang="de-DE" dirty="0"/>
            </a:br>
            <a:endParaRPr lang="de-DE" dirty="0"/>
          </a:p>
        </p:txBody>
      </p:sp>
      <p:pic>
        <p:nvPicPr>
          <p:cNvPr id="6" name="Inhaltsplatzhalter 5" descr="Ein Bild, das Karte, Text, Atlas, Screenshot enthält.&#10;&#10;KI-generierte Inhalte können fehlerhaft sein.">
            <a:extLst>
              <a:ext uri="{FF2B5EF4-FFF2-40B4-BE49-F238E27FC236}">
                <a16:creationId xmlns:a16="http://schemas.microsoft.com/office/drawing/2014/main" id="{1C22C186-F98C-17A5-6E2C-655A23C859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43070" y="1810888"/>
            <a:ext cx="5042661" cy="5019316"/>
          </a:xfrm>
          <a:prstGeom prst="rect">
            <a:avLst/>
          </a:prstGeom>
        </p:spPr>
      </p:pic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099C3E2-C302-C4FA-8854-F51E5C6B87F3}"/>
              </a:ext>
            </a:extLst>
          </p:cNvPr>
          <p:cNvSpPr txBox="1">
            <a:spLocks/>
          </p:cNvSpPr>
          <p:nvPr/>
        </p:nvSpPr>
        <p:spPr>
          <a:xfrm>
            <a:off x="677334" y="2160589"/>
            <a:ext cx="6265736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Das Unfallrisiko (Unfälle je 100k Fahrten) ist in den Randgebieten deutlich höher als im Zentrum.</a:t>
            </a:r>
          </a:p>
          <a:p>
            <a:r>
              <a:rPr lang="de-DE" dirty="0"/>
              <a:t>Annahme: Die Infrastruktur (Fahrradwege, Ampeln etc.) ist hier weniger gut ausgebaut.</a:t>
            </a:r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1771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27B487-F9BB-262E-0DF6-14A105447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Datenanalyse</a:t>
            </a:r>
            <a:br>
              <a:rPr lang="de-DE" dirty="0"/>
            </a:br>
            <a:r>
              <a:rPr lang="de-DE" sz="3100" dirty="0"/>
              <a:t>Zeitlich – Unfallrisiko nach Wochentag</a:t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FF3C61-A2CF-F800-11C5-E9D99E176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507806" cy="3880773"/>
          </a:xfrm>
        </p:spPr>
        <p:txBody>
          <a:bodyPr/>
          <a:lstStyle/>
          <a:p>
            <a:r>
              <a:rPr lang="de-DE" dirty="0"/>
              <a:t>Von Mo-Fr werden mehr Fahrräder genutzt</a:t>
            </a:r>
          </a:p>
          <a:p>
            <a:r>
              <a:rPr lang="de-DE" dirty="0"/>
              <a:t>Das Unfallrisiko steigt zum Wochenende (</a:t>
            </a:r>
            <a:r>
              <a:rPr lang="de-DE" dirty="0" err="1"/>
              <a:t>Fr,Sa</a:t>
            </a:r>
            <a:r>
              <a:rPr lang="de-DE" dirty="0"/>
              <a:t>). </a:t>
            </a:r>
          </a:p>
          <a:p>
            <a:r>
              <a:rPr lang="de-DE" dirty="0"/>
              <a:t>Annahme: Hier spielen wahrscheinlich späte Fahrten mitten in der Nacht und Alkoholeinfluss eine Rolle.</a:t>
            </a:r>
          </a:p>
          <a:p>
            <a:r>
              <a:rPr lang="de-DE" dirty="0"/>
              <a:t>Weiterführende Analyse: Verlauf des Unfallrisikos über die Uhrzeit wäre interessant um These zu bestätigen.</a:t>
            </a:r>
          </a:p>
        </p:txBody>
      </p:sp>
      <p:pic>
        <p:nvPicPr>
          <p:cNvPr id="5" name="Grafik 4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707B2D17-530F-DB9D-BB44-7405C0D59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998" y="534387"/>
            <a:ext cx="5669406" cy="2813246"/>
          </a:xfrm>
          <a:prstGeom prst="rect">
            <a:avLst/>
          </a:prstGeom>
        </p:spPr>
      </p:pic>
      <p:pic>
        <p:nvPicPr>
          <p:cNvPr id="7" name="Grafik 6" descr="Ein Bild, das Text, Screenshot, Reihe, parallel enthält.&#10;&#10;KI-generierte Inhalte können fehlerhaft sein.">
            <a:extLst>
              <a:ext uri="{FF2B5EF4-FFF2-40B4-BE49-F238E27FC236}">
                <a16:creationId xmlns:a16="http://schemas.microsoft.com/office/drawing/2014/main" id="{C58C5E68-69CA-9A43-8A00-E83088CAB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030" y="3510367"/>
            <a:ext cx="5737374" cy="284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022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462AEC-5206-F077-CA6C-CE7EE7994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Kooperationsmöglichkeiten</a:t>
            </a: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AE9314-2D3C-627B-A961-7F6A772B3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Versicherung pro Fahrt (Laufkunden):</a:t>
            </a:r>
            <a:r>
              <a:rPr lang="de-DE" dirty="0"/>
              <a:t> Eine </a:t>
            </a:r>
            <a:r>
              <a:rPr lang="de-DE" u="sng" dirty="0"/>
              <a:t>Versicherung</a:t>
            </a:r>
            <a:r>
              <a:rPr lang="de-DE" dirty="0"/>
              <a:t> könnte eine Option anbieten, die für jede einzelne </a:t>
            </a:r>
            <a:r>
              <a:rPr lang="de-DE" dirty="0" err="1"/>
              <a:t>CitiBike</a:t>
            </a:r>
            <a:r>
              <a:rPr lang="de-DE" dirty="0"/>
              <a:t>-Fahrt abgeschlossen wird. Die Prämie könnte dynamisch an das identifizierte Risikoprofil der Fahrt (Route, Tageszeit) angepasst werden.</a:t>
            </a:r>
          </a:p>
          <a:p>
            <a:r>
              <a:rPr lang="de-DE" b="1" dirty="0"/>
              <a:t>Abonnement-Versicherung (Member) :</a:t>
            </a:r>
            <a:r>
              <a:rPr lang="de-DE" dirty="0"/>
              <a:t> Für </a:t>
            </a:r>
            <a:r>
              <a:rPr lang="de-DE" dirty="0" err="1"/>
              <a:t>CitiBike</a:t>
            </a:r>
            <a:r>
              <a:rPr lang="de-DE" dirty="0"/>
              <a:t>-Member könnte eine individuelle </a:t>
            </a:r>
            <a:r>
              <a:rPr lang="de-DE" u="sng" dirty="0"/>
              <a:t>Versicherung</a:t>
            </a:r>
            <a:r>
              <a:rPr lang="de-DE" dirty="0"/>
              <a:t> angeboten je nach Risikoprofil (Routen, Fahrtzeiten).</a:t>
            </a:r>
          </a:p>
          <a:p>
            <a:r>
              <a:rPr lang="de-DE" b="1" dirty="0"/>
              <a:t>Risikobasierte Prämienmodelle (Laufkunden/Member):</a:t>
            </a:r>
            <a:r>
              <a:rPr lang="de-DE" dirty="0"/>
              <a:t> Die </a:t>
            </a:r>
            <a:r>
              <a:rPr lang="de-DE" u="sng" dirty="0"/>
              <a:t>Versicherung</a:t>
            </a:r>
            <a:r>
              <a:rPr lang="de-DE" dirty="0"/>
              <a:t> und/oder </a:t>
            </a:r>
            <a:r>
              <a:rPr lang="de-DE" u="sng" dirty="0" err="1"/>
              <a:t>Citibike</a:t>
            </a:r>
            <a:r>
              <a:rPr lang="de-DE" dirty="0"/>
              <a:t> könnte Prämien anbieten z.B. Bonuspunkte oder Rabatte für die Nutzung von als sicher eingestuften Routen oder zu risikoarmen Zeiten.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2206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AFCB9E-5F94-BBB6-14AD-3E9293FE7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Kooperationsmöglichkeiten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CA1D1A-7960-60FE-ECDF-DA3C1357E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Anonymisierte Daten für die Versicherung:</a:t>
            </a:r>
            <a:r>
              <a:rPr lang="de-DE" dirty="0"/>
              <a:t> </a:t>
            </a:r>
            <a:r>
              <a:rPr lang="de-DE" dirty="0" err="1"/>
              <a:t>CitiBike</a:t>
            </a:r>
            <a:r>
              <a:rPr lang="de-DE" dirty="0"/>
              <a:t> könnte anonymisierte Nutzungsdaten mit der Versicherung teilen, um deren Risikomodelle zu verfeinern und präzisere, wettbewerbsfähigere Versicherungsprodukte zu entwickeln.</a:t>
            </a:r>
          </a:p>
          <a:p>
            <a:r>
              <a:rPr lang="de-DE" b="1" dirty="0"/>
              <a:t>Unfall-Einblicke für </a:t>
            </a:r>
            <a:r>
              <a:rPr lang="de-DE" b="1" dirty="0" err="1"/>
              <a:t>CitiBike</a:t>
            </a:r>
            <a:r>
              <a:rPr lang="de-DE" b="1" dirty="0"/>
              <a:t>:</a:t>
            </a:r>
            <a:r>
              <a:rPr lang="de-DE" dirty="0"/>
              <a:t> Die Versicherung könnte detaillierte, anonymisierte Einblicke in die Art und Ursachen von Unfällen, die Radfahrer betreffen, an </a:t>
            </a:r>
            <a:r>
              <a:rPr lang="de-DE" dirty="0" err="1"/>
              <a:t>CitiBike</a:t>
            </a:r>
            <a:r>
              <a:rPr lang="de-DE" dirty="0"/>
              <a:t> weitergeben. Dies würde </a:t>
            </a:r>
            <a:r>
              <a:rPr lang="de-DE" dirty="0" err="1"/>
              <a:t>CitiBike</a:t>
            </a:r>
            <a:r>
              <a:rPr lang="de-DE" dirty="0"/>
              <a:t> helfen, die Sicherheit seines Dienstes und seiner Fahrräder weiter zu optimieren.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3849081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Blaugrü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5045_TF89119559.potx" id="{E1E259A3-7E9F-4AA1-AD5B-A36DB47735E3}" vid="{0F07876C-54D3-43B0-91E6-041F268B7C77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E04B51-1D33-4F14-BBD7-79D7D27E2E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C24F515-356D-4532-BE08-F6D7771916F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9AEF1282-A6E9-4912-8AB9-8ED69BF7097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Design „Facette“</Template>
  <TotalTime>0</TotalTime>
  <Words>522</Words>
  <Application>Microsoft Office PowerPoint</Application>
  <PresentationFormat>Breitbild</PresentationFormat>
  <Paragraphs>46</Paragraphs>
  <Slides>9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5" baseType="lpstr">
      <vt:lpstr>Arial</vt:lpstr>
      <vt:lpstr>Calibri</vt:lpstr>
      <vt:lpstr>Trebuchet MS</vt:lpstr>
      <vt:lpstr>Wingdings</vt:lpstr>
      <vt:lpstr>Wingdings 3</vt:lpstr>
      <vt:lpstr>Facette</vt:lpstr>
      <vt:lpstr>Data Science Challenge AXA Data Innovation Lab</vt:lpstr>
      <vt:lpstr>Aufgabe</vt:lpstr>
      <vt:lpstr>Agenda</vt:lpstr>
      <vt:lpstr>Datenbereinigung Citibike</vt:lpstr>
      <vt:lpstr>Datenbereinigung NYPD</vt:lpstr>
      <vt:lpstr>Datenanalyse Geografisch – Unfallrisiko nach NYC-Stadtgebiet </vt:lpstr>
      <vt:lpstr>Datenanalyse Zeitlich – Unfallrisiko nach Wochentag </vt:lpstr>
      <vt:lpstr>Kooperationsmöglichkeiten  </vt:lpstr>
      <vt:lpstr>Kooperationsmöglichkeiten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Dygutsch</dc:creator>
  <cp:lastModifiedBy>Thomas Dygutsch</cp:lastModifiedBy>
  <cp:revision>24</cp:revision>
  <dcterms:created xsi:type="dcterms:W3CDTF">2025-12-17T17:16:49Z</dcterms:created>
  <dcterms:modified xsi:type="dcterms:W3CDTF">2025-12-17T21:51:48Z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